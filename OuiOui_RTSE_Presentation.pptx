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we present our RTSE group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731520" cy="731520"/>
          </a:xfrm>
          <a:prstGeom prst="ellipse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3774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UTM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971F"/>
                </a:solidFill>
              </a:rPr>
              <a:t>Universiti Teknologi Malaysia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 Concurrent Real-Time Control System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for Autonomous Vehicle Simulation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Using Rate Monotonic Scheduling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371600" y="3749040"/>
            <a:ext cx="640080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7947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Umayra  |  Adam  |  Aisyah  |  Nopal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</a:rPr>
              <a:t>Faculty of Computing  •  Universiti Teknologi Malaysia  •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28016"/>
            <a:ext cx="411480" cy="41148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64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UTM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85800" y="12801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342"/>
                </a:solidFill>
              </a:rPr>
              <a:t>Presentation Outline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768096"/>
            <a:ext cx="8503920" cy="749808"/>
          </a:xfrm>
          <a:prstGeom prst="roundRect">
            <a:avLst>
              <a:gd name="adj" fmla="val 9756"/>
            </a:avLst>
          </a:prstGeom>
          <a:solidFill>
            <a:srgbClr val="F0F4FA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768096"/>
            <a:ext cx="502920" cy="749808"/>
          </a:xfrm>
          <a:prstGeom prst="roundRect">
            <a:avLst>
              <a:gd name="adj" fmla="val 14545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6809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71F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80467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Introduction &amp; Problem Statement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115214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What is real-time software engineering? Why does timing matter for autonomous vehicles?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609344"/>
            <a:ext cx="8503920" cy="749808"/>
          </a:xfrm>
          <a:prstGeom prst="roundRect">
            <a:avLst>
              <a:gd name="adj" fmla="val 9756"/>
            </a:avLst>
          </a:prstGeom>
          <a:solidFill>
            <a:srgbClr val="F0F4FA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609344"/>
            <a:ext cx="502920" cy="749808"/>
          </a:xfrm>
          <a:prstGeom prst="roundRect">
            <a:avLst>
              <a:gd name="adj" fmla="val 14545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0934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71F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16459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Background Study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" y="19933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Concurrent programming, RMS scheduling, µC/OS-II, SpeedTrials2D simulation environment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450592"/>
            <a:ext cx="8503920" cy="749808"/>
          </a:xfrm>
          <a:prstGeom prst="roundRect">
            <a:avLst>
              <a:gd name="adj" fmla="val 9756"/>
            </a:avLst>
          </a:prstGeom>
          <a:solidFill>
            <a:srgbClr val="F0F4FA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450592"/>
            <a:ext cx="502920" cy="749808"/>
          </a:xfrm>
          <a:prstGeom prst="roundRect">
            <a:avLst>
              <a:gd name="adj" fmla="val 14545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45059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71F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248716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System Design &amp; Implementation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" y="28346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8-task RMS architecture, scheduling table, schedulability analysis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291840"/>
            <a:ext cx="8503920" cy="749808"/>
          </a:xfrm>
          <a:prstGeom prst="roundRect">
            <a:avLst>
              <a:gd name="adj" fmla="val 9756"/>
            </a:avLst>
          </a:prstGeom>
          <a:solidFill>
            <a:srgbClr val="F0F4FA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291840"/>
            <a:ext cx="502920" cy="749808"/>
          </a:xfrm>
          <a:prstGeom prst="roundRect">
            <a:avLst>
              <a:gd name="adj" fmla="val 14545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2918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71F"/>
                </a:solidFill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332841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Case Study: AutoRS Comparison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2688" y="36758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AutoRS framework, scheduling review, benchmarking against our system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4133088"/>
            <a:ext cx="8503920" cy="749808"/>
          </a:xfrm>
          <a:prstGeom prst="roundRect">
            <a:avLst>
              <a:gd name="adj" fmla="val 9756"/>
            </a:avLst>
          </a:prstGeom>
          <a:solidFill>
            <a:srgbClr val="F0F4FA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4133088"/>
            <a:ext cx="502920" cy="749808"/>
          </a:xfrm>
          <a:prstGeom prst="roundRect">
            <a:avLst>
              <a:gd name="adj" fmla="val 14545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13308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71F"/>
                </a:solidFill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2688" y="416966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Redesign &amp; Real-World Proposal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32688" y="451713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Sensor stack scaling (LiDAR/Radar), optimisation, WCET/HiL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731520" cy="731520"/>
          </a:xfrm>
          <a:prstGeom prst="ellipse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3774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UTM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01  Introduction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28016"/>
            <a:ext cx="411480" cy="41148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64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UTM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85800" y="12801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342"/>
                </a:solidFill>
              </a:rPr>
              <a:t>What is Real-Time Software Engineering?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3977640" cy="1920240"/>
          </a:xfrm>
          <a:prstGeom prst="roundRect">
            <a:avLst>
              <a:gd name="adj" fmla="val 4762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49808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71F"/>
                </a:solidFill>
              </a:rPr>
              <a:t>Definition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188720"/>
            <a:ext cx="3703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 discipline where correctness depends on BOTH the logical result AND the time of delivery.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 late result is treated as a wrong result.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749808"/>
            <a:ext cx="4389120" cy="1920240"/>
          </a:xfrm>
          <a:prstGeom prst="roundRect">
            <a:avLst>
              <a:gd name="adj" fmla="val 4762"/>
            </a:avLst>
          </a:prstGeom>
          <a:solidFill>
            <a:srgbClr val="F0F4FA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74980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Hard vs Soft Real-Time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1188720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2200"/>
                </a:solidFill>
              </a:rPr>
              <a:t>Hard RT: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Missing a deadline = system failure
Example: AV collision avoidance
</a:t>
            </a:r>
            <a:pPr indent="0" marL="0">
              <a:buNone/>
            </a:pPr>
            <a:r>
              <a:rPr lang="en-US" sz="1200" b="1" dirty="0">
                <a:solidFill>
                  <a:srgbClr val="006D77"/>
                </a:solidFill>
              </a:rPr>
              <a:t>Soft RT: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Missing a deadline = degraded quality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Example: video streaming buffering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8595360" cy="1965960"/>
          </a:xfrm>
          <a:prstGeom prst="roundRect">
            <a:avLst>
              <a:gd name="adj" fmla="val 4651"/>
            </a:avLst>
          </a:prstGeom>
          <a:solidFill>
            <a:srgbClr val="FFF8E1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620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71F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227832"/>
            <a:ext cx="8321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In a dynamic track with lane changes, token collection, and unpredictable hazard events, the autonomous vehicle must complete a full sense–decide–actuate cycle within a reaction window that shrinks as speed increases.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A missed deadline on the perception or steering task does not degrade gradually — it causes a control error that compounds across cycles, ultimately leading to lateral instability or collision.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28016"/>
            <a:ext cx="411480" cy="41148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64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UTM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85800" y="12801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342"/>
                </a:solidFill>
              </a:rPr>
              <a:t>Project Goal &amp; Contributions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74980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Goal: Develop a concurrent, multi-threaded Python controller for SpeedTrials2D, modelled on µC/OS-II, using RMS to study how scheduling policy and priority assignment affect vehicle stability.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F0F4FA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548640" cy="713232"/>
          </a:xfrm>
          <a:prstGeom prst="roundRect">
            <a:avLst>
              <a:gd name="adj" fmla="val 13333"/>
            </a:avLst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(i)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16276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Concurrent Controller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195681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8 periodic tasks with mutex-protected shared state, emulating µC/OS-II preemptive kernel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F0F4FA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377440"/>
            <a:ext cx="548640" cy="713232"/>
          </a:xfrm>
          <a:prstGeom prst="roundRect">
            <a:avLst>
              <a:gd name="adj" fmla="val 13333"/>
            </a:avLst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37744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(ii)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243230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Schedulability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27614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RMS utilisation bound + response-time analysis to formally verify all task deadlines are met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182112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F0F4FA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182112"/>
            <a:ext cx="548640" cy="713232"/>
          </a:xfrm>
          <a:prstGeom prst="roundRect">
            <a:avLst>
              <a:gd name="adj" fmla="val 13333"/>
            </a:avLst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18211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(iii)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323697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AutoRS Benchmark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" y="3566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Compare fixed-priority static design against AutoRS adaptive industrial-grade scheduler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986784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F0F4FA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986784"/>
            <a:ext cx="548640" cy="713232"/>
          </a:xfrm>
          <a:prstGeom prst="roundRect">
            <a:avLst>
              <a:gd name="adj" fmla="val 13333"/>
            </a:avLst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98678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(iv)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2688" y="4041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Redesign Proposal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2688" y="43708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Identify task period and priority changes for higher speeds and LiDAR/Radar sensor fusion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731520" cy="731520"/>
          </a:xfrm>
          <a:prstGeom prst="ellipse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3774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UTM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02  Background Study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28016"/>
            <a:ext cx="411480" cy="41148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64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UTM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85800" y="12801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342"/>
                </a:solidFill>
              </a:rPr>
              <a:t>Concurrent Programming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4160520" cy="2377440"/>
          </a:xfrm>
          <a:prstGeom prst="roundRect">
            <a:avLst>
              <a:gd name="adj" fmla="val 3846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7955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71F"/>
                </a:solidFill>
              </a:rPr>
              <a:t>Why Concurrency?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188720"/>
            <a:ext cx="3886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 single sequential loop is too slow.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Each stage must progress independently so no one stage stalls the others.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Concurrent tasks keep each stage latency bounded and independent.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17720" y="749808"/>
            <a:ext cx="4206240" cy="2377440"/>
          </a:xfrm>
          <a:prstGeom prst="roundRect">
            <a:avLst>
              <a:gd name="adj" fmla="val 3846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7955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71F"/>
                </a:solidFill>
              </a:rPr>
              <a:t>Hazards &amp; Remedies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Race Condition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→ Mutex: only one task enters critical section at a time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Priority Inversion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→ Priority Inheritance Protocol (Sha et al., 1990): temporarily elevates lock-holder's priority so it can finish and release the mutex quickly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246120"/>
            <a:ext cx="8595360" cy="1645920"/>
          </a:xfrm>
          <a:prstGeom prst="roundRect">
            <a:avLst>
              <a:gd name="adj" fmla="val 5556"/>
            </a:avLst>
          </a:prstGeom>
          <a:solidFill>
            <a:srgbClr val="F0F4FA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27355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Perceive – Compute – Actuate Pipeline (PCA)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370332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7033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PERCEIVE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08736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Camera frames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(OpenCV/HSV)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10128" y="3840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2342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794760" y="370332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37033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COMPUTE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94760" y="408736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Lane scoring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&amp; decision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07608" y="3840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2342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92240" y="370332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7033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ACTUATE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408736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2342"/>
                </a:solidFill>
              </a:rPr>
              <a:t>Steering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A2342"/>
                </a:solidFill>
              </a:rPr>
              <a:t>throttle output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28016"/>
            <a:ext cx="411480" cy="41148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64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UTM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85800" y="12801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342"/>
                </a:solidFill>
              </a:rPr>
              <a:t>Real-Time Scheduling Fundamentals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7498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Periodic Task Model: each task τᵢ has  Period (T)  ·  WCET (C)  ·  Deadline (D)  |  Utilisation  Uᵢ = C / 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481328"/>
            <a:ext cx="2743200" cy="3182112"/>
          </a:xfrm>
          <a:prstGeom prst="roundRect">
            <a:avLst>
              <a:gd name="adj" fmla="val 333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2704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71F"/>
                </a:solidFill>
              </a:rPr>
              <a:t>Rate Monotonic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8971F"/>
                </a:solidFill>
              </a:rPr>
              <a:t>Scheduling (RMS)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2148840"/>
            <a:ext cx="2523744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Fixed priority — shorter period = higher priority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Proven optimal among all fixed-priority algorithms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Liu &amp; Layland bound: U ≤ n(2^(1/n)−1) → ≈ 69.3% for large n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Predictable and analytically tractable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54680" y="1481328"/>
            <a:ext cx="2743200" cy="3182112"/>
          </a:xfrm>
          <a:prstGeom prst="roundRect">
            <a:avLst>
              <a:gd name="adj" fmla="val 3333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52704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71F"/>
                </a:solidFill>
              </a:rPr>
              <a:t>Earliest Deadline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8971F"/>
                </a:solidFill>
              </a:rPr>
              <a:t>First (EDF)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2148840"/>
            <a:ext cx="2523744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Dynamic priority — nearest deadline = highest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Theoretically optimal: can use 100% CPU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Harder to predict under overload conditions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Cascading deadline misses when overloaded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481328"/>
            <a:ext cx="2743200" cy="3182112"/>
          </a:xfrm>
          <a:prstGeom prst="roundRect">
            <a:avLst>
              <a:gd name="adj" fmla="val 3333"/>
            </a:avLst>
          </a:prstGeom>
          <a:solidFill>
            <a:srgbClr val="5B3A8C"/>
          </a:solidFill>
          <a:ln w="12700">
            <a:solidFill>
              <a:srgbClr val="5B3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52704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71F"/>
                </a:solidFill>
              </a:rPr>
              <a:t>Response-Time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8971F"/>
                </a:solidFill>
              </a:rPr>
              <a:t>Analysis (RTA)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44768" y="2148840"/>
            <a:ext cx="2523744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Tighter schedulability test than utilisation bound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Rᵢ = Cᵢ + Σⱼ&lt;ᵢ ⌈Rᵢ/Tⱼ⌉·Cⱼ  (iterate to fixed point)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Schedulable if Rᵢ ≤ Tᵢ for all tasks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Used to formally prove our design is safe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28016"/>
            <a:ext cx="411480" cy="41148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64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UTM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85800" y="12801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342"/>
                </a:solidFill>
              </a:rPr>
              <a:t>µC/OS-II Modelling &amp; SpeedTrials2D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4160520" cy="3794760"/>
          </a:xfrm>
          <a:prstGeom prst="roundRect">
            <a:avLst>
              <a:gd name="adj" fmla="val 2410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7955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71F"/>
                </a:solidFill>
              </a:rPr>
              <a:t>µC/OS-II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188720"/>
            <a:ext cx="38862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Preemptive, priority-based RTOS kernel
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features:
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Highest-priority task always runs first
• Mutexes with Priority Inheritance
• Message queues for inter-task comms
• Bounded blocking semantics
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 emulation:
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RTTask  →  threading.Thread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shared_data  →  global dict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data_lock  →  threading.Lock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Period  →  time.perf_counter sleep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749808"/>
            <a:ext cx="4206240" cy="3794760"/>
          </a:xfrm>
          <a:prstGeom prst="roundRect">
            <a:avLst>
              <a:gd name="adj" fmla="val 2410"/>
            </a:avLst>
          </a:prstGeom>
          <a:solidFill>
            <a:srgbClr val="F0F4FA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7955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SpeedTrials2D (V3)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188720"/>
            <a:ext cx="39319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Unity 2D racing simulation
5-lane road  •  OpenCV vision  •  TCP socket
</a:t>
            </a:r>
            <a:pPr algn="l"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5 Events (rotate every 60s):
</a:t>
            </a:r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EV1  Darkness → send accel = −1.0
EV2  Police Car → collect red token in 5s
EV3/4 Chasing Car → avoid collision
EV5  Golden Lane → be in lane at expiry
</a:t>
            </a:r>
            <a:pPr algn="l"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Tactical Win Condition:
</a:t>
            </a:r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Net +60 green tokens AND pass all events at least once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731520" cy="731520"/>
          </a:xfrm>
          <a:prstGeom prst="ellipse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3774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UTM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03  System Design &amp;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     Implementation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28016"/>
            <a:ext cx="411480" cy="41148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64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UTM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85800" y="12801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342"/>
                </a:solidFill>
              </a:rPr>
              <a:t>Concurrent Task Architecture — RMS Schedule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0F4FA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74980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8 Periodic Tasks — shorter period → higher priority (Rate Monotonic Rule)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344168"/>
            <a:ext cx="859536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134416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Task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00784" y="1344168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Role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16936" y="1344168"/>
            <a:ext cx="850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Period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67328" y="13441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Priority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90288" y="13441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WCET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04688" y="1344168"/>
            <a:ext cx="1069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Util.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74536" y="134416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1691640"/>
            <a:ext cx="8595360" cy="356616"/>
          </a:xfrm>
          <a:prstGeom prst="rect">
            <a:avLst/>
          </a:prstGeom>
          <a:solidFill>
            <a:srgbClr val="F7F9FC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" y="1709928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SendControls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00784" y="170992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Actuation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16936" y="170992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2 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67328" y="1709928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HIGH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90288" y="1709928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0.5 ms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04688" y="1709928"/>
            <a:ext cx="996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0.250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74536" y="1709928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Always sends latest control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048256"/>
            <a:ext cx="85953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" y="2066544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ReadFrontCamera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00784" y="206654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Perception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16936" y="206654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5 ms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67328" y="2066544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HIGH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90288" y="2066544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1.5 ms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04688" y="2066544"/>
            <a:ext cx="996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0.300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74536" y="2066544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Feeds brightness + detection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2404872"/>
            <a:ext cx="8595360" cy="356616"/>
          </a:xfrm>
          <a:prstGeom prst="rect">
            <a:avLst/>
          </a:prstGeom>
          <a:solidFill>
            <a:srgbClr val="F7F9FC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" y="242316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BrightnessTask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700784" y="24231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Perception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916936" y="24231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5 ms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767328" y="242316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HIGH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90288" y="2423160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0.5 ms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04688" y="2423160"/>
            <a:ext cx="996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0.100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74536" y="242316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Challenge 1: low light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2761488"/>
            <a:ext cx="85953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" y="2779776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DecisionTask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700784" y="277977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Compute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916936" y="277977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5 ms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767328" y="2779776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HIGH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90288" y="2779776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1.0 ms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04688" y="2779776"/>
            <a:ext cx="996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0.200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74536" y="2779776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Lane scoring state machine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3118104"/>
            <a:ext cx="8595360" cy="356616"/>
          </a:xfrm>
          <a:prstGeom prst="rect">
            <a:avLst/>
          </a:prstGeom>
          <a:solidFill>
            <a:srgbClr val="F7F9FC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0896" y="3136392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D77"/>
                </a:solidFill>
              </a:rPr>
              <a:t>ReadBackCamera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700784" y="313639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Perception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916936" y="313639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10 ms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767328" y="3136392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MED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90288" y="3136392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1.5 ms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504688" y="3136392"/>
            <a:ext cx="996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0.150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574536" y="313639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Chasing car feed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4320" y="3474720"/>
            <a:ext cx="85953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0896" y="3493008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D77"/>
                </a:solidFill>
              </a:rPr>
              <a:t>DetectionTask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700784" y="349300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Compute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916936" y="349300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10 ms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767328" y="3493008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MED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590288" y="3493008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5.0 ms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504688" y="3493008"/>
            <a:ext cx="996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0.500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574536" y="3493008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Coins + police + chasing + HUD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74320" y="3831336"/>
            <a:ext cx="8595360" cy="356616"/>
          </a:xfrm>
          <a:prstGeom prst="rect">
            <a:avLst/>
          </a:prstGeom>
          <a:solidFill>
            <a:srgbClr val="F7F9FC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0896" y="3849624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3A8C"/>
                </a:solidFill>
              </a:rPr>
              <a:t>PoliceWatchdog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700784" y="384962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Compute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2916936" y="384962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100 ms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3767328" y="3849624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LOW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590288" y="3849624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0.3 ms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504688" y="3849624"/>
            <a:ext cx="996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0.003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574536" y="3849624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Police deadline countdown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74320" y="4187952"/>
            <a:ext cx="85953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10896" y="420624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3A8C"/>
                </a:solidFill>
              </a:rPr>
              <a:t>GoldenLaneWatchdog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1700784" y="42062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Compute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2916936" y="42062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100 ms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3767328" y="42062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LOW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590288" y="4206240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0.3 ms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5504688" y="4206240"/>
            <a:ext cx="996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0.003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574536" y="420624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Golden lane timer + tactical win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74320" y="4544568"/>
            <a:ext cx="859536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0040" y="45445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Utilisation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5358384" y="45445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71F"/>
                </a:solidFill>
              </a:rPr>
              <a:t>1.508  (distributed across multi-core PC)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28016"/>
            <a:ext cx="411480" cy="41148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64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UTM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85800" y="12801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342"/>
                </a:solidFill>
              </a:rPr>
              <a:t>Schedulability Analysis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95528"/>
            <a:ext cx="2743200" cy="3886200"/>
          </a:xfrm>
          <a:prstGeom prst="roundRect">
            <a:avLst>
              <a:gd name="adj" fmla="val 333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4124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71F"/>
                </a:solidFill>
              </a:rPr>
              <a:t>RMS Utilisation Bound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371600"/>
            <a:ext cx="252374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For n=8 tasks: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 ≤ 8(2^(1/8)−1) ≈ 69.4%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Tasks grouped by priority level: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HIGH group: 4 tasks, 2–5ms periods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MEDIUM group: 2 tasks, 10ms periods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LOW group: 2 tasks, 100ms periods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Each group schedulable within its processor core.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795528"/>
            <a:ext cx="2743200" cy="3886200"/>
          </a:xfrm>
          <a:prstGeom prst="roundRect">
            <a:avLst>
              <a:gd name="adj" fmla="val 3333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84124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71F"/>
                </a:solidFill>
              </a:rPr>
              <a:t>Response-Time 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64408" y="1371600"/>
            <a:ext cx="252374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Rᵢ = Cᵢ + Σⱼ&lt;ᵢ ⌈Rᵢ/Tⱼ⌉·Cⱼ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(iterate until fixed point)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All tasks verified: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SendControls:  R ≈ 0.5ms &lt; 2ms  ✓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ReadFrontCam:  R ≈ 2.0ms &lt; 5ms  ✓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DetectionTask: R ≈ 8.5ms &lt; 10ms ✓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PoliceWatchdog: R ≈ 6.8ms &lt; 100ms 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795528"/>
            <a:ext cx="2743200" cy="3886200"/>
          </a:xfrm>
          <a:prstGeom prst="roundRect">
            <a:avLst>
              <a:gd name="adj" fmla="val 3333"/>
            </a:avLst>
          </a:prstGeom>
          <a:solidFill>
            <a:srgbClr val="5B3A8C"/>
          </a:solidFill>
          <a:ln w="12700">
            <a:solidFill>
              <a:srgbClr val="5B3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84124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71F"/>
                </a:solidFill>
              </a:rPr>
              <a:t>Key Design Decisions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44768" y="1371600"/>
            <a:ext cx="252374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SendControls at 2ms = HIGHEST priority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Actuation thread always gets CPU first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DecisionTask at 5ms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Interprets latest sensor data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Computes steering &amp; throttle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DetectionTask at 10ms MEDIUM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Heavy OpenCV processing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Never blocks the control path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731520" cy="731520"/>
          </a:xfrm>
          <a:prstGeom prst="ellipse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3774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UTM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04  Case Study: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     AutoRS Comparison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28016"/>
            <a:ext cx="411480" cy="41148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64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UTM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85800" y="12801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342"/>
                </a:solidFill>
              </a:rPr>
              <a:t>AutoRS: Environment-Dependent Real-Time Scheduling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F0F4FA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74980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Ma, Li &amp; Xu — IEEE Trans. Parallel Distrib. Syst., Vol. 34, No. 12, Dec. 2023  |  University of Macau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344168"/>
            <a:ext cx="4160520" cy="3383280"/>
          </a:xfrm>
          <a:prstGeom prst="roundRect">
            <a:avLst>
              <a:gd name="adj" fmla="val 270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8988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71F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38862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AV task execution time varies with environment: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Sensor fusion: 20ms → 40ms as traffic density rises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Object detection: 70ms → 170ms in complex scenes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With static scheduling, increased execution causes cascading deadline misses for all downstream tasks.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Result: control commands delayed → vehicle cannot update speed → collision risk.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344168"/>
            <a:ext cx="4206240" cy="3383280"/>
          </a:xfrm>
          <a:prstGeom prst="roundRect">
            <a:avLst>
              <a:gd name="adj" fmla="val 2703"/>
            </a:avLst>
          </a:prstGeom>
          <a:solidFill>
            <a:srgbClr val="F0F4FA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3898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AutoRS Solution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1801368"/>
            <a:ext cx="3931920" cy="1353312"/>
          </a:xfrm>
          <a:prstGeom prst="roundRect">
            <a:avLst>
              <a:gd name="adj" fmla="val 5405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847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71F"/>
                </a:solidFill>
              </a:rPr>
              <a:t>Inner Control Loop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1305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DDEEFF"/>
                </a:solidFill>
              </a:rPr>
              <a:t>Environment Guided Controller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233172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Calculates tracking error E(t).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Adjusts priority coefficient γ: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→ High error: prioritise control chain (responsive)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→ Low error: prioritise deadline-first (throughput)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3264408"/>
            <a:ext cx="3931920" cy="1353312"/>
          </a:xfrm>
          <a:prstGeom prst="roundRect">
            <a:avLst>
              <a:gd name="adj" fmla="val 5405"/>
            </a:avLst>
          </a:prstGeom>
          <a:solidFill>
            <a:srgbClr val="5B3A8C"/>
          </a:solidFill>
          <a:ln w="12700">
            <a:solidFill>
              <a:srgbClr val="5B3A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310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71F"/>
                </a:solidFill>
              </a:rPr>
              <a:t>Outer Control Loop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5935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DDEEFF"/>
                </a:solidFill>
              </a:rPr>
              <a:t>RL-based Task Rate Coordinator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379476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Markov Decision Process.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Monitors CPU load + deadline miss ratio.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Dynamically adjusts sensor task release rates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to prevent overload or underutilisation.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46451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D77"/>
                </a:solidFill>
              </a:rPr>
              <a:t>Performance gain: 7.95% – 56.9% over static baselines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28016"/>
            <a:ext cx="411480" cy="41148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64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UTM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85800" y="12801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342"/>
                </a:solidFill>
              </a:rPr>
              <a:t>Scheduling Review &amp; Benchmarking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8595360" cy="3840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Dimension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77440" y="7498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SpeedTrials2D (RMS)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17720" y="74980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Pure EDF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37960" y="7498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AutoRS (Hybrid)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133856"/>
            <a:ext cx="8595360" cy="512064"/>
          </a:xfrm>
          <a:prstGeom prst="rect">
            <a:avLst/>
          </a:prstGeom>
          <a:solidFill>
            <a:srgbClr val="F0F4FA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179576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Priority assignment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117957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Fixed (static RMS)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11795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Dynamic (deadline)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7960" y="117957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Hybrid: γ × priority + deadline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645920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69164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CPU utilisation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169164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≈69.3% bound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7720" y="169164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Up to 100%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16916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Adaptive (RL-tuned rates)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157984"/>
            <a:ext cx="8595360" cy="512064"/>
          </a:xfrm>
          <a:prstGeom prst="rect">
            <a:avLst/>
          </a:prstGeom>
          <a:solidFill>
            <a:srgbClr val="F0F4FA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203704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Environment awareness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77440" y="2203704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Event state machine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7720" y="22037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None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37960" y="220370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Tracking error E(t)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670048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71576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Overload behaviour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77440" y="271576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Predictable, bounded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17720" y="271576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Cascading misses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37960" y="271576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Outer loop reduces sensor rates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182112"/>
            <a:ext cx="8595360" cy="512064"/>
          </a:xfrm>
          <a:prstGeom prst="rect">
            <a:avLst/>
          </a:prstGeom>
          <a:solidFill>
            <a:srgbClr val="F0F4FA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22783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Implementation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77440" y="322783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Python threads + Lock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17720" y="32278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Theoretical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37960" y="322783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Nvidia Jetson TX2, 23 tasks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694176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739896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Performance gain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377440" y="373989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Simulation adequate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17720" y="373989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EDF baseline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37960" y="3739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Up to +56.9% vs Apollo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4242816"/>
            <a:ext cx="8595360" cy="658368"/>
          </a:xfrm>
          <a:prstGeom prst="roundRect">
            <a:avLst>
              <a:gd name="adj" fmla="val 8333"/>
            </a:avLst>
          </a:prstGeom>
          <a:solidFill>
            <a:srgbClr val="FFF8E1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4261104"/>
            <a:ext cx="83759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Both share the same Perceive–Compute–Actuate architecture. AutoRS dynamically adjusts γ every cycle based on real driving conditions; our system uses a manually coded event state machine as a fixed approximation of this concept.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731520" cy="731520"/>
          </a:xfrm>
          <a:prstGeom prst="ellipse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3774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UTM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05  Redesign &amp;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     Real-World Proposal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28016"/>
            <a:ext cx="411480" cy="41148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64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UTM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85800" y="12801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342"/>
                </a:solidFill>
              </a:rPr>
              <a:t>Redesign: Task Criticality &amp; Sensor Pipeline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4980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Task Criticality Groups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161288"/>
            <a:ext cx="4251960" cy="1005840"/>
          </a:xfrm>
          <a:prstGeom prst="roundRect">
            <a:avLst>
              <a:gd name="adj" fmla="val 727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070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8971F"/>
                </a:solidFill>
              </a:rPr>
              <a:t>Safety-Critical Control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DDEEFF"/>
                </a:solidFill>
              </a:rPr>
              <a:t>Steering, braking, emergency avoidance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74650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Directly affects vehicle safety — always first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258568"/>
            <a:ext cx="4251960" cy="1005840"/>
          </a:xfrm>
          <a:prstGeom prst="roundRect">
            <a:avLst>
              <a:gd name="adj" fmla="val 7273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0428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8971F"/>
                </a:solidFill>
              </a:rPr>
              <a:t>Perception &amp; Fusion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260604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DDEEFF"/>
                </a:solidFill>
              </a:rPr>
              <a:t>Camera, LiDAR, Radar, object detection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84378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Provides information — runs concurrently without blocking control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355848"/>
            <a:ext cx="4251960" cy="1005840"/>
          </a:xfrm>
          <a:prstGeom prst="roundRect">
            <a:avLst>
              <a:gd name="adj" fmla="val 7273"/>
            </a:avLst>
          </a:prstGeom>
          <a:solidFill>
            <a:srgbClr val="5B3A8C"/>
          </a:solidFill>
          <a:ln w="12700">
            <a:solidFill>
              <a:srgbClr val="5B3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015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8971F"/>
                </a:solidFill>
              </a:rPr>
              <a:t>Support Tasks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1480" y="370332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DDEEFF"/>
                </a:solidFill>
              </a:rPr>
              <a:t>Logging, visualisation, debug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394106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Can be delayed or dropped under high CPU load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09160" y="74980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Proposed Sensor Pipeline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1161288"/>
            <a:ext cx="4160520" cy="493776"/>
          </a:xfrm>
          <a:prstGeom prst="roundRect">
            <a:avLst>
              <a:gd name="adj" fmla="val 14815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161288"/>
            <a:ext cx="4160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Camera  +  LiDAR  +  Radar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09160" y="1655064"/>
            <a:ext cx="4160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2342"/>
                </a:solidFill>
              </a:rPr>
              <a:t>↓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1728216"/>
            <a:ext cx="4160520" cy="493776"/>
          </a:xfrm>
          <a:prstGeom prst="roundRect">
            <a:avLst>
              <a:gd name="adj" fmla="val 14815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728216"/>
            <a:ext cx="4160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Preprocessing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09160" y="2221992"/>
            <a:ext cx="4160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2342"/>
                </a:solidFill>
              </a:rPr>
              <a:t>↓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2295144"/>
            <a:ext cx="4160520" cy="493776"/>
          </a:xfrm>
          <a:prstGeom prst="roundRect">
            <a:avLst>
              <a:gd name="adj" fmla="val 14815"/>
            </a:avLst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295144"/>
            <a:ext cx="4160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A2342"/>
                </a:solidFill>
              </a:rPr>
              <a:t>Sensor Fusion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09160" y="2788920"/>
            <a:ext cx="4160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2342"/>
                </a:solidFill>
              </a:rPr>
              <a:t>↓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862072"/>
            <a:ext cx="4160520" cy="493776"/>
          </a:xfrm>
          <a:prstGeom prst="roundRect">
            <a:avLst>
              <a:gd name="adj" fmla="val 14815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862072"/>
            <a:ext cx="4160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Prediction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09160" y="3355848"/>
            <a:ext cx="4160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2342"/>
                </a:solidFill>
              </a:rPr>
              <a:t>↓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3429000"/>
            <a:ext cx="4160520" cy="493776"/>
          </a:xfrm>
          <a:prstGeom prst="roundRect">
            <a:avLst>
              <a:gd name="adj" fmla="val 14815"/>
            </a:avLst>
          </a:prstGeom>
          <a:solidFill>
            <a:srgbClr val="5B3A8C"/>
          </a:solidFill>
          <a:ln w="12700">
            <a:solidFill>
              <a:srgbClr val="5B3A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429000"/>
            <a:ext cx="4160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Path Planning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09160" y="3922776"/>
            <a:ext cx="4160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2342"/>
                </a:solidFill>
              </a:rPr>
              <a:t>↓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3995928"/>
            <a:ext cx="4160520" cy="493776"/>
          </a:xfrm>
          <a:prstGeom prst="roundRect">
            <a:avLst>
              <a:gd name="adj" fmla="val 14815"/>
            </a:avLst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995928"/>
            <a:ext cx="4160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Steering / Braking Control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28016"/>
            <a:ext cx="411480" cy="41148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64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UTM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85800" y="12801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342"/>
                </a:solidFill>
              </a:rPr>
              <a:t>Redesign: Schedulability Validation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F0F4FA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74980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Manual observation is not sufficient for a real vehicle — three formal validation methods required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353312"/>
            <a:ext cx="2743200" cy="3337560"/>
          </a:xfrm>
          <a:prstGeom prst="roundRect">
            <a:avLst>
              <a:gd name="adj" fmla="val 333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990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71F"/>
                </a:solidFill>
              </a:rPr>
              <a:t>WCET Benchmarking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856232"/>
            <a:ext cx="2523744" cy="2715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Measure worst-case execution time of every task on actual embedded hardware.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Log: release time, start, finish, execution time, blocking time, deadline misses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Task schedulable only if worst-case response time ≤ deadline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A task fast on laptop may be slow on vehicle controller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54680" y="1353312"/>
            <a:ext cx="2743200" cy="3337560"/>
          </a:xfrm>
          <a:prstGeom prst="roundRect">
            <a:avLst>
              <a:gd name="adj" fmla="val 3333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3990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71F"/>
                </a:solidFill>
              </a:rPr>
              <a:t>Hardware-in-the-Loop (HiL)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1856232"/>
            <a:ext cx="2523744" cy="2715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Run real controller on embedded hardware with simulated sensor inputs.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Feed camera, LiDAR, Radar data into controller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Check latency, CPU load, mutex blocking, contention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Unsafe sign: control task delayed or misses deadline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Also used by AutoRS to validate scheduling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353312"/>
            <a:ext cx="2743200" cy="3337560"/>
          </a:xfrm>
          <a:prstGeom prst="roundRect">
            <a:avLst>
              <a:gd name="adj" fmla="val 3333"/>
            </a:avLst>
          </a:prstGeom>
          <a:solidFill>
            <a:srgbClr val="5B3A8C"/>
          </a:solidFill>
          <a:ln w="12700">
            <a:solidFill>
              <a:srgbClr val="5B3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3990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71F"/>
                </a:solidFill>
              </a:rPr>
              <a:t>Safety Threshold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44768" y="1856232"/>
            <a:ext cx="2523744" cy="2715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Find operating limits by gradually increasing speed, density, sensor rate.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Unsafe signs: missed steering/braking time, CPU &gt; 85–90%, large lane deviation, low time-to-collision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Determine safe envelope: e.g. stable at 30 km/h, unsafe at 40 km/h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Fix: reduce non-critical sensor rates or enter safe mode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731520" cy="731520"/>
          </a:xfrm>
          <a:prstGeom prst="ellipse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3774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UTM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37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850392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777240"/>
            <a:ext cx="502920" cy="960120"/>
          </a:xfrm>
          <a:prstGeom prst="roundRect">
            <a:avLst>
              <a:gd name="adj" fmla="val 14545"/>
            </a:avLst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841248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71F"/>
                </a:solidFill>
              </a:rPr>
              <a:t>Concurrent Controller Built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1179576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8 periodic RMS tasks with mutex-protected shared state, successfully mirroring µC/OS-II in Python.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828800"/>
            <a:ext cx="850392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828800"/>
            <a:ext cx="502920" cy="960120"/>
          </a:xfrm>
          <a:prstGeom prst="roundRect">
            <a:avLst>
              <a:gd name="adj" fmla="val 14545"/>
            </a:avLst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2880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1892808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71F"/>
                </a:solidFill>
              </a:rPr>
              <a:t>Schedulability Verified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2688" y="2231136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RMS utilisation bound and response-time analysis confirm all task deadlines are met under the assigned priority ordering.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880360"/>
            <a:ext cx="850392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80360"/>
            <a:ext cx="502920" cy="960120"/>
          </a:xfrm>
          <a:prstGeom prst="roundRect">
            <a:avLst>
              <a:gd name="adj" fmla="val 14545"/>
            </a:avLst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88036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2944368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71F"/>
                </a:solidFill>
              </a:rPr>
              <a:t>AutoRS Benchmark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3282696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Static RMS is predictable and sufficient for simulation. AutoRS outperforms by up to 56.9% in complex environments because it adapts priorities in real time.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931920"/>
            <a:ext cx="850392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931920"/>
            <a:ext cx="502920" cy="960120"/>
          </a:xfrm>
          <a:prstGeom prst="roundRect">
            <a:avLst>
              <a:gd name="adj" fmla="val 14545"/>
            </a:avLst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93192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3995928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71F"/>
                </a:solidFill>
              </a:rPr>
              <a:t>Redesign Proposal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" y="4334256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LiDAR + Radar fusion, dynamic scheduling, WCET/HiL/safety-threshold validation needed to extend the design to a real autonomous vehicle.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731520" cy="731520"/>
          </a:xfrm>
          <a:prstGeom prst="ellipse">
            <a:avLst/>
          </a:prstGeom>
          <a:solidFill>
            <a:srgbClr val="C8971F"/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3774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UTM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230428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8971F"/>
                </a:solidFill>
              </a:rPr>
              <a:t>Questions &amp; Discussion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0" y="2926080"/>
            <a:ext cx="64008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897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971800"/>
            <a:ext cx="6400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Umayra  ·  Adam  ·  Aisyah  ·  Nopal
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Faculty of Computing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Universiti Teknologi Malaysia  • 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68172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0AEC0"/>
                </a:solidFill>
              </a:rPr>
              <a:t>References: [1] Ma et al. AutoRS, IEEE TPDS 2023  [7] Liu &amp; Layland, J.ACM 1973  [8] Sha et al., IEEE Trans.Comput. 1990  [6] Labrosse, µC/OS-II 2002  [3] Kopetz, Real-Time Systems 2011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Concurrent Real-Time Control System for Autonomous Vehicle Simulation</dc:title>
  <dc:subject>PptxGenJS Presentation</dc:subject>
  <dc:creator>OuiOui Group</dc:creator>
  <cp:lastModifiedBy>OuiOui Group</cp:lastModifiedBy>
  <cp:revision>1</cp:revision>
  <dcterms:created xsi:type="dcterms:W3CDTF">2026-06-24T06:24:04Z</dcterms:created>
  <dcterms:modified xsi:type="dcterms:W3CDTF">2026-06-24T06:24:04Z</dcterms:modified>
</cp:coreProperties>
</file>